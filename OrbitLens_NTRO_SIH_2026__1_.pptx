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153" autoAdjust="0"/>
  </p:normalViewPr>
  <p:slideViewPr>
    <p:cSldViewPr snapToGrid="0" snapToObjects="1">
      <p:cViewPr varScale="1">
        <p:scale>
          <a:sx n="84" d="100"/>
          <a:sy n="84" d="100"/>
        </p:scale>
        <p:origin x="366" y="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109728"/>
            <a:ext cx="7955279" cy="43891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2600" b="0" i="0">
                <a:solidFill>
                  <a:srgbClr val="234E82"/>
                </a:solidFill>
                <a:latin typeface="Georgia"/>
              </a:rPr>
              <a:t>SMART INDIA HACKATHON 2026</a:t>
            </a:r>
          </a:p>
        </p:txBody>
      </p:sp>
      <p:pic>
        <p:nvPicPr>
          <p:cNvPr id="3" name="Picture 2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73152"/>
            <a:ext cx="1874519" cy="911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749808"/>
            <a:ext cx="1124712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600" b="1" i="1" dirty="0">
                <a:solidFill>
                  <a:srgbClr val="234E82"/>
                </a:solidFill>
                <a:latin typeface="Arial"/>
              </a:rPr>
              <a:t>ORBITLENS: Tactical Geospatial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86400" cy="4114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Arial"/>
              </a:rPr>
              <a:t>• Problem Statement ID – 26142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20240"/>
            <a:ext cx="548640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• Problem Statement Title 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4068" y="2444517"/>
            <a:ext cx="6265912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i="0" dirty="0">
                <a:solidFill>
                  <a:srgbClr val="000000"/>
                </a:solidFill>
                <a:latin typeface="Arial"/>
              </a:rPr>
              <a:t>Deep Learning Based Super Resolution Mapping (SRM) from Medium Resolution Satellite Imageries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46120"/>
            <a:ext cx="548640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Arial"/>
              </a:rPr>
              <a:t>• Theme – Software / Geospatial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794760"/>
            <a:ext cx="548640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0" i="0" dirty="0">
                <a:solidFill>
                  <a:srgbClr val="000000"/>
                </a:solidFill>
                <a:latin typeface="Arial"/>
              </a:rPr>
              <a:t>• PS Category – 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343400"/>
            <a:ext cx="6039474" cy="350865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500" b="0" i="0" dirty="0">
                <a:solidFill>
                  <a:srgbClr val="000000"/>
                </a:solidFill>
                <a:latin typeface="Arial"/>
              </a:rPr>
              <a:t>• </a:t>
            </a:r>
            <a:r>
              <a:rPr b="0" i="0" dirty="0">
                <a:solidFill>
                  <a:srgbClr val="000000"/>
                </a:solidFill>
                <a:latin typeface="Arial"/>
              </a:rPr>
              <a:t>Organization 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– National Technical Research </a:t>
            </a:r>
            <a:r>
              <a:rPr sz="1500" b="0" i="0" dirty="0" err="1">
                <a:solidFill>
                  <a:srgbClr val="000000"/>
                </a:solidFill>
                <a:latin typeface="Arial"/>
              </a:rPr>
              <a:t>Organisation</a:t>
            </a:r>
            <a:r>
              <a:rPr sz="1500" b="0" i="0" dirty="0">
                <a:solidFill>
                  <a:srgbClr val="000000"/>
                </a:solidFill>
                <a:latin typeface="Arial"/>
              </a:rPr>
              <a:t> (NTRO)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892040"/>
            <a:ext cx="5486400" cy="38404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700" b="0" i="0" dirty="0">
                <a:solidFill>
                  <a:srgbClr val="000000"/>
                </a:solidFill>
                <a:latin typeface="Arial"/>
              </a:rPr>
              <a:t>• Team Name – </a:t>
            </a:r>
            <a:r>
              <a:rPr sz="1700" b="0" i="0" dirty="0" err="1">
                <a:solidFill>
                  <a:srgbClr val="000000"/>
                </a:solidFill>
                <a:latin typeface="Arial"/>
              </a:rPr>
              <a:t>GitGrow</a:t>
            </a:r>
            <a:endParaRPr sz="1700" b="0" i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7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1BEE71F-98B4-4838-AEBD-196CEB1C799B}"/>
              </a:ext>
            </a:extLst>
          </p:cNvPr>
          <p:cNvGrpSpPr/>
          <p:nvPr/>
        </p:nvGrpSpPr>
        <p:grpSpPr>
          <a:xfrm>
            <a:off x="7697937" y="1083216"/>
            <a:ext cx="3808263" cy="4691568"/>
            <a:chOff x="0" y="0"/>
            <a:chExt cx="6977940" cy="7734299"/>
          </a:xfrm>
        </p:grpSpPr>
        <p:sp>
          <p:nvSpPr>
            <p:cNvPr id="23" name="Shape 8">
              <a:extLst>
                <a:ext uri="{FF2B5EF4-FFF2-40B4-BE49-F238E27FC236}">
                  <a16:creationId xmlns:a16="http://schemas.microsoft.com/office/drawing/2014/main" id="{7D7E1492-A3A0-4F32-B2BD-4A75D8A9F64D}"/>
                </a:ext>
              </a:extLst>
            </p:cNvPr>
            <p:cNvSpPr/>
            <p:nvPr/>
          </p:nvSpPr>
          <p:spPr>
            <a:xfrm>
              <a:off x="0" y="4688920"/>
              <a:ext cx="1427970" cy="1672314"/>
            </a:xfrm>
            <a:custGeom>
              <a:avLst/>
              <a:gdLst/>
              <a:ahLst/>
              <a:cxnLst/>
              <a:rect l="0" t="0" r="0" b="0"/>
              <a:pathLst>
                <a:path w="1427970" h="1672314">
                  <a:moveTo>
                    <a:pt x="413200" y="0"/>
                  </a:moveTo>
                  <a:cubicBezTo>
                    <a:pt x="413200" y="0"/>
                    <a:pt x="413200" y="0"/>
                    <a:pt x="1014771" y="0"/>
                  </a:cubicBezTo>
                  <a:cubicBezTo>
                    <a:pt x="1052465" y="0"/>
                    <a:pt x="1088825" y="27629"/>
                    <a:pt x="1107005" y="72598"/>
                  </a:cubicBezTo>
                  <a:cubicBezTo>
                    <a:pt x="1107005" y="72598"/>
                    <a:pt x="1107005" y="72598"/>
                    <a:pt x="1408458" y="765322"/>
                  </a:cubicBezTo>
                  <a:cubicBezTo>
                    <a:pt x="1427970" y="808481"/>
                    <a:pt x="1427970" y="863834"/>
                    <a:pt x="1408458" y="906992"/>
                  </a:cubicBezTo>
                  <a:cubicBezTo>
                    <a:pt x="1408458" y="906992"/>
                    <a:pt x="1408458" y="906992"/>
                    <a:pt x="1107005" y="1599717"/>
                  </a:cubicBezTo>
                  <a:cubicBezTo>
                    <a:pt x="1088825" y="1644590"/>
                    <a:pt x="1052465" y="1672314"/>
                    <a:pt x="1014771" y="1672314"/>
                  </a:cubicBezTo>
                  <a:cubicBezTo>
                    <a:pt x="1014771" y="1672314"/>
                    <a:pt x="1014771" y="1672314"/>
                    <a:pt x="413200" y="1672314"/>
                  </a:cubicBezTo>
                  <a:cubicBezTo>
                    <a:pt x="374174" y="1672314"/>
                    <a:pt x="339145" y="1644686"/>
                    <a:pt x="319632" y="1599717"/>
                  </a:cubicBezTo>
                  <a:cubicBezTo>
                    <a:pt x="319632" y="1599717"/>
                    <a:pt x="319632" y="1599717"/>
                    <a:pt x="19514" y="906992"/>
                  </a:cubicBezTo>
                  <a:cubicBezTo>
                    <a:pt x="0" y="863833"/>
                    <a:pt x="0" y="808480"/>
                    <a:pt x="19514" y="765322"/>
                  </a:cubicBezTo>
                  <a:cubicBezTo>
                    <a:pt x="19514" y="765322"/>
                    <a:pt x="19514" y="765322"/>
                    <a:pt x="319632" y="72598"/>
                  </a:cubicBezTo>
                  <a:cubicBezTo>
                    <a:pt x="339145" y="27725"/>
                    <a:pt x="374174" y="0"/>
                    <a:pt x="413200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808080">
                <a:alpha val="14901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Shape 9">
              <a:extLst>
                <a:ext uri="{FF2B5EF4-FFF2-40B4-BE49-F238E27FC236}">
                  <a16:creationId xmlns:a16="http://schemas.microsoft.com/office/drawing/2014/main" id="{0486319E-C042-4681-8D5D-1A900DB3C6E3}"/>
                </a:ext>
              </a:extLst>
            </p:cNvPr>
            <p:cNvSpPr/>
            <p:nvPr/>
          </p:nvSpPr>
          <p:spPr>
            <a:xfrm>
              <a:off x="1754932" y="855259"/>
              <a:ext cx="1627384" cy="1855714"/>
            </a:xfrm>
            <a:custGeom>
              <a:avLst/>
              <a:gdLst/>
              <a:ahLst/>
              <a:cxnLst/>
              <a:rect l="0" t="0" r="0" b="0"/>
              <a:pathLst>
                <a:path w="1627384" h="1855714">
                  <a:moveTo>
                    <a:pt x="1049038" y="0"/>
                  </a:moveTo>
                  <a:lnTo>
                    <a:pt x="1049546" y="0"/>
                  </a:lnTo>
                  <a:cubicBezTo>
                    <a:pt x="1053775" y="0"/>
                    <a:pt x="1087610" y="0"/>
                    <a:pt x="1358295" y="0"/>
                  </a:cubicBezTo>
                  <a:lnTo>
                    <a:pt x="1394370" y="0"/>
                  </a:lnTo>
                  <a:lnTo>
                    <a:pt x="1428827" y="79171"/>
                  </a:lnTo>
                  <a:cubicBezTo>
                    <a:pt x="1476799" y="189401"/>
                    <a:pt x="1532579" y="317542"/>
                    <a:pt x="1597496" y="466739"/>
                  </a:cubicBezTo>
                  <a:cubicBezTo>
                    <a:pt x="1627384" y="532858"/>
                    <a:pt x="1627384" y="617555"/>
                    <a:pt x="1597496" y="683674"/>
                  </a:cubicBezTo>
                  <a:cubicBezTo>
                    <a:pt x="1597496" y="683674"/>
                    <a:pt x="1597496" y="683674"/>
                    <a:pt x="1135846" y="1744626"/>
                  </a:cubicBezTo>
                  <a:cubicBezTo>
                    <a:pt x="1107956" y="1813413"/>
                    <a:pt x="1052273" y="1855714"/>
                    <a:pt x="994591" y="1855714"/>
                  </a:cubicBezTo>
                  <a:cubicBezTo>
                    <a:pt x="994591" y="1855714"/>
                    <a:pt x="994591" y="1855714"/>
                    <a:pt x="73292" y="1855714"/>
                  </a:cubicBezTo>
                  <a:cubicBezTo>
                    <a:pt x="58348" y="1855714"/>
                    <a:pt x="43785" y="1853046"/>
                    <a:pt x="29888" y="1847997"/>
                  </a:cubicBezTo>
                  <a:lnTo>
                    <a:pt x="0" y="1831419"/>
                  </a:lnTo>
                  <a:lnTo>
                    <a:pt x="18276" y="1789309"/>
                  </a:lnTo>
                  <a:cubicBezTo>
                    <a:pt x="183137" y="1408791"/>
                    <a:pt x="394067" y="921854"/>
                    <a:pt x="664203" y="298488"/>
                  </a:cubicBezTo>
                  <a:cubicBezTo>
                    <a:pt x="744349" y="113755"/>
                    <a:pt x="888650" y="0"/>
                    <a:pt x="1049038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808080">
                <a:alpha val="14901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Shape 10">
              <a:extLst>
                <a:ext uri="{FF2B5EF4-FFF2-40B4-BE49-F238E27FC236}">
                  <a16:creationId xmlns:a16="http://schemas.microsoft.com/office/drawing/2014/main" id="{ABC6DB20-2253-4BE7-AD69-360BA38EF18C}"/>
                </a:ext>
              </a:extLst>
            </p:cNvPr>
            <p:cNvSpPr/>
            <p:nvPr/>
          </p:nvSpPr>
          <p:spPr>
            <a:xfrm>
              <a:off x="2803873" y="855259"/>
              <a:ext cx="96" cy="0"/>
            </a:xfrm>
            <a:custGeom>
              <a:avLst/>
              <a:gdLst/>
              <a:ahLst/>
              <a:cxnLst/>
              <a:rect l="0" t="0" r="0" b="0"/>
              <a:pathLst>
                <a:path w="96">
                  <a:moveTo>
                    <a:pt x="96" y="0"/>
                  </a:move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808080">
                <a:alpha val="14901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Shape 11">
              <a:extLst>
                <a:ext uri="{FF2B5EF4-FFF2-40B4-BE49-F238E27FC236}">
                  <a16:creationId xmlns:a16="http://schemas.microsoft.com/office/drawing/2014/main" id="{75DF73E2-9D71-431F-A657-CF5C99512273}"/>
                </a:ext>
              </a:extLst>
            </p:cNvPr>
            <p:cNvSpPr/>
            <p:nvPr/>
          </p:nvSpPr>
          <p:spPr>
            <a:xfrm>
              <a:off x="1059603" y="0"/>
              <a:ext cx="5918337" cy="7734299"/>
            </a:xfrm>
            <a:custGeom>
              <a:avLst/>
              <a:gdLst/>
              <a:ahLst/>
              <a:cxnLst/>
              <a:rect l="0" t="0" r="0" b="0"/>
              <a:pathLst>
                <a:path w="5918337" h="7734299">
                  <a:moveTo>
                    <a:pt x="713984" y="0"/>
                  </a:moveTo>
                  <a:lnTo>
                    <a:pt x="1753219" y="0"/>
                  </a:lnTo>
                  <a:lnTo>
                    <a:pt x="1801165" y="8671"/>
                  </a:lnTo>
                  <a:cubicBezTo>
                    <a:pt x="1847773" y="25735"/>
                    <a:pt x="1888999" y="67143"/>
                    <a:pt x="1912558" y="125378"/>
                  </a:cubicBezTo>
                  <a:cubicBezTo>
                    <a:pt x="1912558" y="125378"/>
                    <a:pt x="1912558" y="125378"/>
                    <a:pt x="2191832" y="767323"/>
                  </a:cubicBezTo>
                  <a:lnTo>
                    <a:pt x="2223339" y="839825"/>
                  </a:lnTo>
                  <a:lnTo>
                    <a:pt x="2081132" y="839825"/>
                  </a:lnTo>
                  <a:lnTo>
                    <a:pt x="2030112" y="722640"/>
                  </a:lnTo>
                  <a:cubicBezTo>
                    <a:pt x="1835364" y="275051"/>
                    <a:pt x="1835364" y="275051"/>
                    <a:pt x="1835364" y="275051"/>
                  </a:cubicBezTo>
                  <a:cubicBezTo>
                    <a:pt x="1807474" y="206264"/>
                    <a:pt x="1751791" y="163963"/>
                    <a:pt x="1694109" y="163963"/>
                  </a:cubicBezTo>
                  <a:cubicBezTo>
                    <a:pt x="772810" y="163963"/>
                    <a:pt x="772810" y="163963"/>
                    <a:pt x="772810" y="163963"/>
                  </a:cubicBezTo>
                  <a:cubicBezTo>
                    <a:pt x="713129" y="163963"/>
                    <a:pt x="659349" y="206264"/>
                    <a:pt x="629556" y="275051"/>
                  </a:cubicBezTo>
                  <a:cubicBezTo>
                    <a:pt x="169906" y="1336003"/>
                    <a:pt x="169906" y="1336003"/>
                    <a:pt x="169906" y="1336003"/>
                  </a:cubicBezTo>
                  <a:cubicBezTo>
                    <a:pt x="140018" y="1402122"/>
                    <a:pt x="140018" y="1486819"/>
                    <a:pt x="169906" y="1552938"/>
                  </a:cubicBezTo>
                  <a:cubicBezTo>
                    <a:pt x="629556" y="2613890"/>
                    <a:pt x="629556" y="2613890"/>
                    <a:pt x="629556" y="2613890"/>
                  </a:cubicBezTo>
                  <a:cubicBezTo>
                    <a:pt x="644500" y="2648283"/>
                    <a:pt x="665345" y="2676103"/>
                    <a:pt x="689999" y="2695253"/>
                  </a:cubicBezTo>
                  <a:lnTo>
                    <a:pt x="696947" y="2699159"/>
                  </a:lnTo>
                  <a:lnTo>
                    <a:pt x="659444" y="2785666"/>
                  </a:lnTo>
                  <a:lnTo>
                    <a:pt x="631555" y="2850070"/>
                  </a:lnTo>
                  <a:lnTo>
                    <a:pt x="660491" y="2866266"/>
                  </a:lnTo>
                  <a:cubicBezTo>
                    <a:pt x="676197" y="2871983"/>
                    <a:pt x="692569" y="2874936"/>
                    <a:pt x="709416" y="2874936"/>
                  </a:cubicBezTo>
                  <a:cubicBezTo>
                    <a:pt x="1748650" y="2874936"/>
                    <a:pt x="1748650" y="2874936"/>
                    <a:pt x="1748650" y="2874936"/>
                  </a:cubicBezTo>
                  <a:cubicBezTo>
                    <a:pt x="1813756" y="2874936"/>
                    <a:pt x="1876579" y="2827205"/>
                    <a:pt x="1907989" y="2749558"/>
                  </a:cubicBezTo>
                  <a:cubicBezTo>
                    <a:pt x="2428748" y="1552843"/>
                    <a:pt x="2428748" y="1552843"/>
                    <a:pt x="2428748" y="1552843"/>
                  </a:cubicBezTo>
                  <a:cubicBezTo>
                    <a:pt x="2462445" y="1478245"/>
                    <a:pt x="2462445" y="1382687"/>
                    <a:pt x="2428748" y="1308088"/>
                  </a:cubicBezTo>
                  <a:cubicBezTo>
                    <a:pt x="2363642" y="1158511"/>
                    <a:pt x="2306721" y="1027607"/>
                    <a:pt x="2256844" y="913089"/>
                  </a:cubicBezTo>
                  <a:lnTo>
                    <a:pt x="2231715" y="855259"/>
                  </a:lnTo>
                  <a:lnTo>
                    <a:pt x="2348317" y="855259"/>
                  </a:lnTo>
                  <a:cubicBezTo>
                    <a:pt x="2710783" y="855259"/>
                    <a:pt x="3290747" y="855259"/>
                    <a:pt x="4218707" y="855259"/>
                  </a:cubicBezTo>
                  <a:cubicBezTo>
                    <a:pt x="4373670" y="855259"/>
                    <a:pt x="4523395" y="968919"/>
                    <a:pt x="4598213" y="1153747"/>
                  </a:cubicBezTo>
                  <a:cubicBezTo>
                    <a:pt x="4598213" y="1153747"/>
                    <a:pt x="4598213" y="1153747"/>
                    <a:pt x="5838190" y="4003436"/>
                  </a:cubicBezTo>
                  <a:cubicBezTo>
                    <a:pt x="5918337" y="4181119"/>
                    <a:pt x="5918337" y="4408534"/>
                    <a:pt x="5838190" y="4586122"/>
                  </a:cubicBezTo>
                  <a:cubicBezTo>
                    <a:pt x="5838190" y="4586122"/>
                    <a:pt x="5838190" y="4586122"/>
                    <a:pt x="4598213" y="7435811"/>
                  </a:cubicBezTo>
                  <a:cubicBezTo>
                    <a:pt x="4523395" y="7620544"/>
                    <a:pt x="4373764" y="7734299"/>
                    <a:pt x="4218707" y="7734299"/>
                  </a:cubicBezTo>
                  <a:cubicBezTo>
                    <a:pt x="4218707" y="7734299"/>
                    <a:pt x="4218707" y="7734299"/>
                    <a:pt x="1744080" y="7734299"/>
                  </a:cubicBezTo>
                  <a:cubicBezTo>
                    <a:pt x="1583693" y="7734299"/>
                    <a:pt x="1439392" y="7620639"/>
                    <a:pt x="1359247" y="7435811"/>
                  </a:cubicBezTo>
                  <a:cubicBezTo>
                    <a:pt x="1359247" y="7435811"/>
                    <a:pt x="1359247" y="7435811"/>
                    <a:pt x="124598" y="4586122"/>
                  </a:cubicBezTo>
                  <a:cubicBezTo>
                    <a:pt x="44452" y="4408439"/>
                    <a:pt x="44452" y="4181024"/>
                    <a:pt x="124598" y="4003436"/>
                  </a:cubicBezTo>
                  <a:cubicBezTo>
                    <a:pt x="124598" y="4003436"/>
                    <a:pt x="124598" y="4003436"/>
                    <a:pt x="583010" y="2945342"/>
                  </a:cubicBezTo>
                  <a:lnTo>
                    <a:pt x="621655" y="2856168"/>
                  </a:lnTo>
                  <a:lnTo>
                    <a:pt x="620323" y="2855406"/>
                  </a:lnTo>
                  <a:cubicBezTo>
                    <a:pt x="592529" y="2833779"/>
                    <a:pt x="569018" y="2802434"/>
                    <a:pt x="552170" y="2763659"/>
                  </a:cubicBezTo>
                  <a:cubicBezTo>
                    <a:pt x="552170" y="2763659"/>
                    <a:pt x="552170" y="2763659"/>
                    <a:pt x="33696" y="1566943"/>
                  </a:cubicBezTo>
                  <a:cubicBezTo>
                    <a:pt x="0" y="1492345"/>
                    <a:pt x="0" y="1396787"/>
                    <a:pt x="33696" y="1322189"/>
                  </a:cubicBezTo>
                  <a:cubicBezTo>
                    <a:pt x="33696" y="1322189"/>
                    <a:pt x="33696" y="1322189"/>
                    <a:pt x="552170" y="125474"/>
                  </a:cubicBezTo>
                  <a:cubicBezTo>
                    <a:pt x="577584" y="67167"/>
                    <a:pt x="617990" y="25741"/>
                    <a:pt x="665036" y="8673"/>
                  </a:cubicBezTo>
                  <a:lnTo>
                    <a:pt x="713984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808080">
                <a:alpha val="14901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15AE37C0-16DE-4B44-980A-FF7331F337C0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829622" y="1546536"/>
              <a:ext cx="4471416" cy="513892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20040" y="109728"/>
            <a:ext cx="1600200" cy="576072"/>
          </a:xfrm>
          <a:prstGeom prst="ellipse">
            <a:avLst/>
          </a:prstGeom>
          <a:solidFill>
            <a:srgbClr val="008462"/>
          </a:solidFill>
          <a:ln w="15240">
            <a:solidFill>
              <a:srgbClr val="733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60020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GitGrow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82880"/>
            <a:ext cx="777240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2500" b="1" i="0">
                <a:solidFill>
                  <a:srgbClr val="000000"/>
                </a:solidFill>
                <a:latin typeface="Georgia"/>
              </a:rPr>
              <a:t>IDEA TITLE</a:t>
            </a:r>
          </a:p>
        </p:txBody>
      </p:sp>
      <p:pic>
        <p:nvPicPr>
          <p:cNvPr id="5" name="Picture 4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73152"/>
            <a:ext cx="1874519" cy="911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7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67160" y="6565392"/>
            <a:ext cx="32004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932688"/>
            <a:ext cx="4069080" cy="384048"/>
          </a:xfrm>
          <a:prstGeom prst="rect">
            <a:avLst/>
          </a:prstGeom>
          <a:solidFill>
            <a:srgbClr val="00846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" y="958423"/>
            <a:ext cx="4069080" cy="350865"/>
          </a:xfrm>
          <a:prstGeom prst="rect">
            <a:avLst/>
          </a:prstGeom>
          <a:solidFill>
            <a:srgbClr val="00846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932688"/>
            <a:ext cx="3703320" cy="384048"/>
          </a:xfrm>
          <a:prstGeom prst="rect">
            <a:avLst/>
          </a:prstGeom>
          <a:solidFill>
            <a:srgbClr val="00846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51438" y="940136"/>
            <a:ext cx="1151084" cy="350865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b="0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Uniqueness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" y="1353312"/>
            <a:ext cx="4069080" cy="4892040"/>
          </a:xfrm>
          <a:prstGeom prst="rect">
            <a:avLst/>
          </a:prstGeom>
          <a:solidFill>
            <a:srgbClr val="CCDED4"/>
          </a:solidFill>
          <a:ln w="1016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9976" y="1407460"/>
            <a:ext cx="3882256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" y="1828800"/>
            <a:ext cx="3840480" cy="3880037"/>
          </a:xfrm>
          <a:prstGeom prst="rect">
            <a:avLst/>
          </a:prstGeom>
          <a:noFill/>
        </p:spPr>
        <p:txBody>
          <a:bodyPr wrap="square" lIns="73152" tIns="36576" rIns="36576" bIns="36576">
            <a:spAutoFit/>
          </a:bodyPr>
          <a:lstStyle/>
          <a:p>
            <a:pPr>
              <a:spcAft>
                <a:spcPts val="400"/>
              </a:spcAft>
            </a:pPr>
            <a:r>
              <a:rPr sz="1030" dirty="0">
                <a:solidFill>
                  <a:srgbClr val="000000"/>
                </a:solidFill>
                <a:latin typeface="Arial"/>
              </a:rPr>
              <a:t>• </a:t>
            </a:r>
            <a:r>
              <a:rPr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imagery – 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10m Sentinel-2 L2A satellite imagery.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 – 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tile, normalize and prepare geospatial bands.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Generative SR – 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Swin2SR / BSRGAN based super-resolution.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4× enhancement – 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&lt;4m products; target 2.5m/px output.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GeoTIFF</a:t>
            </a:r>
            <a:r>
              <a:rPr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preservation – 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retain CRS and geospatial metadata.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Uncertainty engine – 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stochastic MC Dropout passes.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 – 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PSNR, SSIM and SAM against reference/baseline.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Outputs – 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imagery, overlays and uncertainty heatmaps.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75320" y="1353312"/>
            <a:ext cx="3703320" cy="4892040"/>
          </a:xfrm>
          <a:prstGeom prst="rect">
            <a:avLst/>
          </a:prstGeom>
          <a:solidFill>
            <a:srgbClr val="CCDED4"/>
          </a:solidFill>
          <a:ln w="1016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66760" y="1481328"/>
            <a:ext cx="3520440" cy="3131114"/>
          </a:xfrm>
          <a:prstGeom prst="rect">
            <a:avLst/>
          </a:prstGeom>
          <a:noFill/>
        </p:spPr>
        <p:txBody>
          <a:bodyPr wrap="square" lIns="73152" tIns="36576" rIns="36576" bIns="36576">
            <a:spAutoFit/>
          </a:bodyPr>
          <a:lstStyle/>
          <a:p>
            <a:pPr>
              <a:spcAft>
                <a:spcPts val="400"/>
              </a:spcAft>
            </a:pPr>
            <a:r>
              <a:rPr sz="1010" dirty="0">
                <a:solidFill>
                  <a:srgbClr val="000000"/>
                </a:solidFill>
                <a:latin typeface="Arial"/>
              </a:rPr>
              <a:t>• </a:t>
            </a:r>
            <a:r>
              <a:rPr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 Awareness – 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Uncertainty heatmaps expose areas where reconstructed details are less reliable.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Spectral Preservation – 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 validation checks band-to-band consistency.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Native </a:t>
            </a:r>
            <a:r>
              <a:rPr sz="1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GeoTIFF</a:t>
            </a:r>
            <a:r>
              <a:rPr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CRS and metadata are preserved for geospatial use.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 Inference – 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local NVIDIA RTX/CUDA environments.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Multi-Modal Overlays – 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enhancement, Canny edges and VARI views.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Validation – </a:t>
            </a: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PSNR, SSIM and SAM provide measurable assessment.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94192" y="5468112"/>
            <a:ext cx="1572768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45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750105" y="5401961"/>
            <a:ext cx="860941" cy="44319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2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
Uncertainty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113263" y="5468112"/>
            <a:ext cx="1572768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113263" y="5486400"/>
            <a:ext cx="1572768" cy="2743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>
            <a:defPPr>
              <a:defRPr lang="en-US"/>
            </a:defPPr>
            <a:lvl1pPr algn="ctr">
              <a:defRPr sz="1200" b="1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t>GeoTIFF
Native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94192" y="5907024"/>
            <a:ext cx="1572768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08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922428" y="5840874"/>
            <a:ext cx="516296" cy="443198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
CUDA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113263" y="5907024"/>
            <a:ext cx="1572768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DA0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113263" y="5925312"/>
            <a:ext cx="1572768" cy="27432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>
            <a:defPPr>
              <a:defRPr lang="en-US"/>
            </a:defPPr>
            <a:lvl1pPr algn="ctr">
              <a:defRPr sz="1200" b="1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t>Spectral
SAM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37C6A3AA-2AAA-4DB3-B7E8-E00B35991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713" y="859926"/>
            <a:ext cx="3899456" cy="54253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20040" y="109728"/>
            <a:ext cx="1600200" cy="576072"/>
          </a:xfrm>
          <a:prstGeom prst="ellipse">
            <a:avLst/>
          </a:prstGeom>
          <a:solidFill>
            <a:srgbClr val="008462"/>
          </a:solidFill>
          <a:ln w="15240">
            <a:solidFill>
              <a:srgbClr val="733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60020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GitGrow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82880"/>
            <a:ext cx="777240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2500" b="1" i="0">
                <a:solidFill>
                  <a:srgbClr val="000000"/>
                </a:solidFill>
                <a:latin typeface="Georgia"/>
              </a:rPr>
              <a:t>TECHNICAL APPROACH</a:t>
            </a:r>
          </a:p>
        </p:txBody>
      </p:sp>
      <p:pic>
        <p:nvPicPr>
          <p:cNvPr id="5" name="Picture 4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73152"/>
            <a:ext cx="1874519" cy="911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7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661393" y="6565392"/>
            <a:ext cx="131574" cy="21236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932688"/>
            <a:ext cx="3337560" cy="384048"/>
          </a:xfrm>
          <a:prstGeom prst="rect">
            <a:avLst/>
          </a:prstGeom>
          <a:solidFill>
            <a:srgbClr val="00846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88318" y="940135"/>
            <a:ext cx="1090107" cy="350865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932688"/>
            <a:ext cx="3703320" cy="384048"/>
          </a:xfrm>
          <a:prstGeom prst="rect">
            <a:avLst/>
          </a:prstGeom>
          <a:solidFill>
            <a:srgbClr val="00846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75319" y="944524"/>
            <a:ext cx="3703319" cy="35086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Validation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" y="1353312"/>
            <a:ext cx="3337560" cy="4892040"/>
          </a:xfrm>
          <a:prstGeom prst="rect">
            <a:avLst/>
          </a:prstGeom>
          <a:solidFill>
            <a:srgbClr val="CCDED4"/>
          </a:solidFill>
          <a:ln w="1016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47472" y="1481328"/>
            <a:ext cx="29718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08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554480"/>
            <a:ext cx="686663" cy="2585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069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1536192"/>
            <a:ext cx="2007281" cy="2585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(Vite) + Three.js WebGL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" y="2121408"/>
            <a:ext cx="29718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08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" y="2194560"/>
            <a:ext cx="646139" cy="2585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069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2176272"/>
            <a:ext cx="1176732" cy="2585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 + Python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" y="2761488"/>
            <a:ext cx="29718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08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2834640"/>
            <a:ext cx="787203" cy="2585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069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2816352"/>
            <a:ext cx="1396344" cy="2585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Swin2SR / BSRGAN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" y="3401568"/>
            <a:ext cx="29718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08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7200" y="3474720"/>
            <a:ext cx="1077796" cy="2585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069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 Processing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60096" y="3464326"/>
            <a:ext cx="1272913" cy="2585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i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rasterio</a:t>
            </a:r>
            <a:r>
              <a:rPr sz="12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sz="1200" b="0" i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GeoTIFF</a:t>
            </a:r>
            <a:endParaRPr sz="1200" b="0" i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47472" y="4041648"/>
            <a:ext cx="29718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08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7200" y="4114800"/>
            <a:ext cx="905825" cy="2585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069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Acceleration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3312" y="4096512"/>
            <a:ext cx="1545359" cy="2585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NVIDIA RTX + CUDA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" y="4681728"/>
            <a:ext cx="29718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08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7200" y="4754880"/>
            <a:ext cx="689420" cy="2585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069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4736592"/>
            <a:ext cx="1409168" cy="2585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PSNR • SSIM • SAM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7472" y="5321808"/>
            <a:ext cx="29718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08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7200" y="5394960"/>
            <a:ext cx="665375" cy="2585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069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Overlays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" y="5383316"/>
            <a:ext cx="2176878" cy="2585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Canny Edge • VARI • Uncertainty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75320" y="1353312"/>
            <a:ext cx="3703320" cy="4892040"/>
          </a:xfrm>
          <a:prstGeom prst="rect">
            <a:avLst/>
          </a:prstGeom>
          <a:solidFill>
            <a:srgbClr val="CCDED4"/>
          </a:solidFill>
          <a:ln w="1016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412480" y="1481328"/>
            <a:ext cx="1946495" cy="2585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Performance Metrics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412480" y="1874519"/>
            <a:ext cx="3429000" cy="658368"/>
          </a:xfrm>
          <a:prstGeom prst="roundRect">
            <a:avLst/>
          </a:prstGeom>
          <a:solidFill>
            <a:srgbClr val="CCDED4"/>
          </a:solidFill>
          <a:ln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522208" y="1938527"/>
            <a:ext cx="1479700" cy="2585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Spatial Enhancement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21240" y="1920239"/>
            <a:ext cx="1112612" cy="2585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069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10m → 2.5m/px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21240" y="2167127"/>
            <a:ext cx="840102" cy="2585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4× synthesis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412480" y="2624327"/>
            <a:ext cx="3429000" cy="658368"/>
          </a:xfrm>
          <a:prstGeom prst="roundRect">
            <a:avLst/>
          </a:prstGeom>
          <a:solidFill>
            <a:srgbClr val="CCDED4"/>
          </a:solidFill>
          <a:ln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522208" y="2688335"/>
            <a:ext cx="1265346" cy="2585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Inference Latency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921240" y="2670047"/>
            <a:ext cx="918649" cy="2585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069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~290–450 ms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21240" y="2916935"/>
            <a:ext cx="1094980" cy="2585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 256×256 tile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412480" y="3374135"/>
            <a:ext cx="3429000" cy="658368"/>
          </a:xfrm>
          <a:prstGeom prst="roundRect">
            <a:avLst/>
          </a:prstGeom>
          <a:solidFill>
            <a:srgbClr val="CCDED4"/>
          </a:solidFill>
          <a:ln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522208" y="3438143"/>
            <a:ext cx="868956" cy="2585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21240" y="3419855"/>
            <a:ext cx="1194366" cy="2585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069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Edge Node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21240" y="3666744"/>
            <a:ext cx="1235595" cy="2585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CUDA accelerated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412480" y="4123944"/>
            <a:ext cx="3429000" cy="658368"/>
          </a:xfrm>
          <a:prstGeom prst="roundRect">
            <a:avLst/>
          </a:prstGeom>
          <a:solidFill>
            <a:srgbClr val="CCDED4"/>
          </a:solidFill>
          <a:ln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8522208" y="4187952"/>
            <a:ext cx="1242456" cy="2585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Spectral Integrity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21240" y="4169663"/>
            <a:ext cx="1112612" cy="2585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069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 validation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21240" y="4416552"/>
            <a:ext cx="1510157" cy="2585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multi-band consistency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412480" y="4873752"/>
            <a:ext cx="3429000" cy="658368"/>
          </a:xfrm>
          <a:prstGeom prst="roundRect">
            <a:avLst/>
          </a:prstGeom>
          <a:solidFill>
            <a:srgbClr val="CCDED4"/>
          </a:solidFill>
          <a:ln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522208" y="4937760"/>
            <a:ext cx="1019638" cy="2585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Quality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921240" y="4919472"/>
            <a:ext cx="1014830" cy="2585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t>PSNR: +4.2 dB | SSIM: 0.89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921240" y="5166360"/>
            <a:ext cx="1675267" cy="258532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against baseline/reference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85515" y="5760720"/>
            <a:ext cx="3455497" cy="44319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2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 improve interpretability while accounting for</a:t>
            </a:r>
            <a:endParaRPr lang="en-US" sz="1200" b="1" i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120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uncertainty and reconstruction error.</a:t>
            </a: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C2F6AE8D-7F1B-429B-8359-6778235D0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7829" y="818147"/>
            <a:ext cx="4865777" cy="55244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20040" y="109728"/>
            <a:ext cx="1600200" cy="576072"/>
          </a:xfrm>
          <a:prstGeom prst="ellipse">
            <a:avLst/>
          </a:prstGeom>
          <a:solidFill>
            <a:srgbClr val="008462"/>
          </a:solidFill>
          <a:ln w="15240">
            <a:solidFill>
              <a:srgbClr val="733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60020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GitGrow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82880"/>
            <a:ext cx="777240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2500" b="1" i="0">
                <a:solidFill>
                  <a:srgbClr val="000000"/>
                </a:solidFill>
                <a:latin typeface="Georgia"/>
              </a:rPr>
              <a:t>FEASIBILITY AND VIABILITY</a:t>
            </a:r>
          </a:p>
        </p:txBody>
      </p:sp>
      <p:pic>
        <p:nvPicPr>
          <p:cNvPr id="5" name="Picture 4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73152"/>
            <a:ext cx="1874519" cy="911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7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67160" y="6565392"/>
            <a:ext cx="32004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932688"/>
            <a:ext cx="3977639" cy="384048"/>
          </a:xfrm>
          <a:prstGeom prst="rect">
            <a:avLst/>
          </a:prstGeom>
          <a:solidFill>
            <a:srgbClr val="00846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9006" y="924747"/>
            <a:ext cx="2208811" cy="381643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20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48472" y="932688"/>
            <a:ext cx="3630168" cy="384048"/>
          </a:xfrm>
          <a:prstGeom prst="rect">
            <a:avLst/>
          </a:prstGeom>
          <a:solidFill>
            <a:srgbClr val="00846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48472" y="924746"/>
            <a:ext cx="3630168" cy="38164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0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Operational Viability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" y="1353312"/>
            <a:ext cx="3977639" cy="4892040"/>
          </a:xfrm>
          <a:prstGeom prst="rect">
            <a:avLst/>
          </a:prstGeom>
          <a:solidFill>
            <a:srgbClr val="CCDED4"/>
          </a:solidFill>
          <a:ln w="1016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4320" y="1508760"/>
            <a:ext cx="3749039" cy="2966966"/>
          </a:xfrm>
          <a:prstGeom prst="rect">
            <a:avLst/>
          </a:prstGeom>
          <a:noFill/>
        </p:spPr>
        <p:txBody>
          <a:bodyPr wrap="square" lIns="73152" tIns="36576" rIns="36576" bIns="36576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Satellite Input – </a:t>
            </a: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10m Sentinel-2 imagery is the defined input.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AI/ML Engine – </a:t>
            </a: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Swin2SR / BSRGAN performs super-resolution.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Geo-Spatial Processing – </a:t>
            </a: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rasterio preserves CRS and GeoTIFF metadata.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 Acceleration – </a:t>
            </a: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NVIDIA RTX/CUDA supports local inference.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Uncertainty – </a:t>
            </a: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 Dropout estimates pixel-wise variability.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 – </a:t>
            </a: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PSNR, SSIM and SAM quantify output quality.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 UI – </a:t>
            </a: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 + React/Vite + Three.js support interactive analysis.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48472" y="1353312"/>
            <a:ext cx="3630168" cy="4892040"/>
          </a:xfrm>
          <a:prstGeom prst="rect">
            <a:avLst/>
          </a:prstGeom>
          <a:solidFill>
            <a:srgbClr val="CCDED4"/>
          </a:solidFill>
          <a:ln w="1016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458200" y="1508760"/>
            <a:ext cx="3401568" cy="2966966"/>
          </a:xfrm>
          <a:prstGeom prst="rect">
            <a:avLst/>
          </a:prstGeom>
          <a:noFill/>
        </p:spPr>
        <p:txBody>
          <a:bodyPr wrap="square" lIns="73152" tIns="36576" rIns="36576" bIns="36576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/ Air-Gapped – </a:t>
            </a: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to avoid cloud dependency for inference.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Analyst-Centric – </a:t>
            </a: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Shows both enhanced imagery and uncertainty.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Geo-Consistent – </a:t>
            </a: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Preserves coordinate reference information.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Low-Latency Target – </a:t>
            </a: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~290–450ms per 256×256 tile.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Multi-Modal – </a:t>
            </a: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Visual, edge and spectral/terrain overlays.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Ready – </a:t>
            </a: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urban analysis, crop monitoring and disaster assessment.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– </a:t>
            </a: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enhanced analytical products while exposing uncertainty.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BBF7102-D9ED-4143-9A2D-086EDC8DD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369" y="924747"/>
            <a:ext cx="3943230" cy="53206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20040" y="109728"/>
            <a:ext cx="1600200" cy="576072"/>
          </a:xfrm>
          <a:prstGeom prst="ellipse">
            <a:avLst/>
          </a:prstGeom>
          <a:solidFill>
            <a:srgbClr val="008462"/>
          </a:solidFill>
          <a:ln w="15240">
            <a:solidFill>
              <a:srgbClr val="733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60020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GitGrow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82880"/>
            <a:ext cx="777240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2500" b="1" i="0">
                <a:solidFill>
                  <a:srgbClr val="000000"/>
                </a:solidFill>
                <a:latin typeface="Georgia"/>
              </a:rPr>
              <a:t>IMPACT AND BENEFITS</a:t>
            </a:r>
          </a:p>
        </p:txBody>
      </p:sp>
      <p:pic>
        <p:nvPicPr>
          <p:cNvPr id="5" name="Picture 4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73152"/>
            <a:ext cx="1874519" cy="911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7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661393" y="6565392"/>
            <a:ext cx="131574" cy="212366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932688"/>
            <a:ext cx="3246120" cy="384048"/>
          </a:xfrm>
          <a:prstGeom prst="rect">
            <a:avLst/>
          </a:prstGeom>
          <a:solidFill>
            <a:srgbClr val="00846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6782" y="924747"/>
            <a:ext cx="2141740" cy="381643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20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Measurable Impacts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41058" y="914400"/>
            <a:ext cx="3252933" cy="402336"/>
          </a:xfrm>
          <a:prstGeom prst="rect">
            <a:avLst/>
          </a:prstGeom>
          <a:solidFill>
            <a:srgbClr val="00846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31465" y="924747"/>
            <a:ext cx="1433213" cy="381643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20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85432" y="932688"/>
            <a:ext cx="5093208" cy="384048"/>
          </a:xfrm>
          <a:prstGeom prst="rect">
            <a:avLst/>
          </a:prstGeom>
          <a:solidFill>
            <a:srgbClr val="00846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68703" y="924747"/>
            <a:ext cx="926664" cy="381643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20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" y="1353312"/>
            <a:ext cx="3246120" cy="4892040"/>
          </a:xfrm>
          <a:prstGeom prst="rect">
            <a:avLst/>
          </a:prstGeom>
          <a:solidFill>
            <a:srgbClr val="CCDED4"/>
          </a:solidFill>
          <a:ln w="1016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4320" y="1508760"/>
            <a:ext cx="3035808" cy="2864374"/>
          </a:xfrm>
          <a:prstGeom prst="rect">
            <a:avLst/>
          </a:prstGeom>
          <a:noFill/>
        </p:spPr>
        <p:txBody>
          <a:bodyPr wrap="square" lIns="73152" tIns="36576" rIns="36576" bIns="36576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Spatial Detail – </a:t>
            </a: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Transforms 10m imagery toward a 2.5m/px target.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 Feature Visibility – </a:t>
            </a: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Improves visibility of small buildings, narrow roads and field boundaries.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Analytical Utility – </a:t>
            </a: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crop monitoring, urban mapping, change detection and disaster assessment.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Uncertainty Awareness – </a:t>
            </a: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Highlights reconstructed areas that require additional verification.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Spectral Consistency – </a:t>
            </a: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SAM-based validation checks preservation of multi-band relationships.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02152" y="1353312"/>
            <a:ext cx="3291840" cy="2542032"/>
          </a:xfrm>
          <a:prstGeom prst="rect">
            <a:avLst/>
          </a:prstGeom>
          <a:solidFill>
            <a:srgbClr val="CCDED4"/>
          </a:solidFill>
          <a:ln w="1016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11880" y="1481328"/>
            <a:ext cx="3063240" cy="2125710"/>
          </a:xfrm>
          <a:prstGeom prst="rect">
            <a:avLst/>
          </a:prstGeom>
          <a:noFill/>
        </p:spPr>
        <p:txBody>
          <a:bodyPr wrap="square" lIns="73152" tIns="36576" rIns="36576" bIns="36576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Higher-Resolution Training – </a:t>
            </a: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 paired datasets with more high-resolution references.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Diffusion Models – </a:t>
            </a: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diffusion-based generative SR approaches.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Sensors – </a:t>
            </a: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 beyond Sentinel-2 to additional Earth-observation sources.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 Uncertainty – </a:t>
            </a: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calibrated confidence and error estimation.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 Deployment – </a:t>
            </a: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 models for compact GPU/edge devices.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02152" y="4023360"/>
            <a:ext cx="3291840" cy="384048"/>
          </a:xfrm>
          <a:prstGeom prst="rect">
            <a:avLst/>
          </a:prstGeom>
          <a:solidFill>
            <a:srgbClr val="00846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06005" y="4015419"/>
            <a:ext cx="1284133" cy="381643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20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02152" y="4443984"/>
            <a:ext cx="3291840" cy="1801368"/>
          </a:xfrm>
          <a:prstGeom prst="rect">
            <a:avLst/>
          </a:prstGeom>
          <a:solidFill>
            <a:srgbClr val="F7F7F7"/>
          </a:solidFill>
          <a:ln w="1016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11880" y="4572000"/>
            <a:ext cx="3063240" cy="1705082"/>
          </a:xfrm>
          <a:prstGeom prst="rect">
            <a:avLst/>
          </a:prstGeom>
          <a:noFill/>
        </p:spPr>
        <p:txBody>
          <a:bodyPr wrap="square" lIns="73152" tIns="36576" rIns="36576" bIns="36576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 – </a:t>
            </a: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learns fine-scale spatial patterns from paired imagery.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Spectral-Aware – </a:t>
            </a: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SAM to assess spectral consistency.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Explainable Uncertainty – </a:t>
            </a: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 variance gives an explicit confidence signal.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Local Processing – </a:t>
            </a: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air-gapped/local deployment.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85432" y="1353312"/>
            <a:ext cx="5093208" cy="2542032"/>
          </a:xfrm>
          <a:prstGeom prst="rect">
            <a:avLst/>
          </a:prstGeom>
          <a:solidFill>
            <a:srgbClr val="FAFAFA"/>
          </a:solidFill>
          <a:ln w="1016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132320" y="1627632"/>
            <a:ext cx="2148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4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520623" y="1719072"/>
            <a:ext cx="1372234" cy="28931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0084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Sharper imagery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48061" y="2011680"/>
            <a:ext cx="1117357" cy="28931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2.5m/px target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28048" y="1627632"/>
            <a:ext cx="2148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45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804172" y="1719072"/>
            <a:ext cx="1596591" cy="28931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7453B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Safer interpretation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34566" y="2011680"/>
            <a:ext cx="1535805" cy="28931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uncertainty heatmap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0" y="2706624"/>
            <a:ext cx="2148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A0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558261" y="2798064"/>
            <a:ext cx="1296957" cy="28931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2DA0C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 consistency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71085" y="3090672"/>
            <a:ext cx="1271309" cy="28931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GeoTIFF + CRS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28048" y="2706624"/>
            <a:ext cx="2148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8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861816" y="2798064"/>
            <a:ext cx="1481303" cy="28931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F082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Quantified quality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872" y="3090672"/>
            <a:ext cx="1635191" cy="28931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PSNR • SSIM • SAM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85432" y="4023360"/>
            <a:ext cx="5093208" cy="384048"/>
          </a:xfrm>
          <a:prstGeom prst="rect">
            <a:avLst/>
          </a:prstGeom>
          <a:solidFill>
            <a:srgbClr val="00846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593327" y="4015419"/>
            <a:ext cx="3677417" cy="381643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2000" b="0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 / Sustainability Model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85432" y="4443984"/>
            <a:ext cx="5093208" cy="1801368"/>
          </a:xfrm>
          <a:prstGeom prst="rect">
            <a:avLst/>
          </a:prstGeom>
          <a:solidFill>
            <a:srgbClr val="CCDED4"/>
          </a:solidFill>
          <a:ln w="1016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004304" y="4572000"/>
            <a:ext cx="4828032" cy="1705082"/>
          </a:xfrm>
          <a:prstGeom prst="rect">
            <a:avLst/>
          </a:prstGeom>
          <a:noFill/>
        </p:spPr>
        <p:txBody>
          <a:bodyPr wrap="square" lIns="73152" tIns="36576" rIns="36576" bIns="36576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 Deployment – </a:t>
            </a: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 inference on local NVIDIA RTX/CUDA systems.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Institutional Use – </a:t>
            </a: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 use by remote-sensing, disaster-response and geospatial analysis teams.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Service – </a:t>
            </a: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Offer local inference and validation modules as a reusable platform component.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Expansion – </a:t>
            </a:r>
            <a:r>
              <a:rPr sz="1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 models, sensors and validation datasets over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20040" y="109728"/>
            <a:ext cx="1600200" cy="576072"/>
          </a:xfrm>
          <a:prstGeom prst="ellipse">
            <a:avLst/>
          </a:prstGeom>
          <a:solidFill>
            <a:srgbClr val="008462"/>
          </a:solidFill>
          <a:ln w="15240">
            <a:solidFill>
              <a:srgbClr val="733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1600200" cy="32004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GitGrow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82880"/>
            <a:ext cx="7772400" cy="475488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2500" b="1" i="0">
                <a:solidFill>
                  <a:srgbClr val="000000"/>
                </a:solidFill>
                <a:latin typeface="Georgia"/>
              </a:rPr>
              <a:t>RESEARCH AND REFERENCES</a:t>
            </a:r>
          </a:p>
        </p:txBody>
      </p:sp>
      <p:pic>
        <p:nvPicPr>
          <p:cNvPr id="5" name="Picture 4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73152"/>
            <a:ext cx="1874519" cy="911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71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567160" y="6565392"/>
            <a:ext cx="320040" cy="182880"/>
          </a:xfrm>
          <a:prstGeom prst="rect">
            <a:avLst/>
          </a:prstGeom>
          <a:noFill/>
        </p:spPr>
        <p:txBody>
          <a:bodyPr wrap="none" lIns="36576" tIns="36576" rIns="36576" bIns="36576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932688"/>
            <a:ext cx="8138160" cy="5349240"/>
          </a:xfrm>
          <a:prstGeom prst="rect">
            <a:avLst/>
          </a:prstGeom>
          <a:solidFill>
            <a:srgbClr val="CCDED4"/>
          </a:solidFill>
          <a:ln w="1016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" y="1143000"/>
            <a:ext cx="7818120" cy="4628960"/>
          </a:xfrm>
          <a:prstGeom prst="rect">
            <a:avLst/>
          </a:prstGeom>
          <a:noFill/>
        </p:spPr>
        <p:txBody>
          <a:bodyPr wrap="square" lIns="73152" tIns="36576" rIns="36576" bIns="36576">
            <a:spAutoFit/>
          </a:bodyPr>
          <a:lstStyle/>
          <a:p>
            <a:pPr>
              <a:spcAft>
                <a:spcPts val="400"/>
              </a:spcAft>
            </a:pPr>
            <a: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Sentinel-2 / Copernicus – </a:t>
            </a:r>
            <a: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Medium-resolution multispectral Earth observation imagery used as the defined input source.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</a:pPr>
            <a:endParaRPr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</a:pPr>
            <a: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ESA Copernicus Sentinel-2 – </a:t>
            </a:r>
            <a: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Mission and sensor information for Earth-observation imagery and multispectral bands.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</a:pPr>
            <a:endParaRPr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</a:pPr>
            <a: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Swin2SR – </a:t>
            </a:r>
            <a: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super-resolution approach based on </a:t>
            </a:r>
            <a:r>
              <a:rPr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Swin</a:t>
            </a:r>
            <a: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Transformer V2 architecture.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</a:pPr>
            <a:endParaRPr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</a:pPr>
            <a: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BSRGAN – </a:t>
            </a:r>
            <a: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degradation modelling approach for blind image super-resolution.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</a:pPr>
            <a:endParaRPr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</a:pPr>
            <a: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rasterio</a:t>
            </a:r>
            <a:r>
              <a:rPr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geospatial raster processing library used for </a:t>
            </a:r>
            <a:r>
              <a:rPr sz="16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GeoTIFF</a:t>
            </a:r>
            <a: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CRS handling.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</a:pPr>
            <a:endParaRPr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</a:pPr>
            <a: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framework used for local inference API serving.</a:t>
            </a: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</a:pPr>
            <a:endParaRPr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</a:pPr>
            <a: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/ </a:t>
            </a:r>
            <a:r>
              <a:rPr sz="16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Vite</a:t>
            </a:r>
            <a:r>
              <a:rPr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Three.js – </a:t>
            </a:r>
            <a:r>
              <a:rPr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and WebGL technologies for the interactive visual analytics interface.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22208" y="932688"/>
            <a:ext cx="3456432" cy="384048"/>
          </a:xfrm>
          <a:prstGeom prst="rect">
            <a:avLst/>
          </a:prstGeom>
          <a:solidFill>
            <a:srgbClr val="00846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70258" y="919815"/>
            <a:ext cx="3380949" cy="38164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000" b="0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Prototype / Project Components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22208" y="1353312"/>
            <a:ext cx="3456432" cy="4928616"/>
          </a:xfrm>
          <a:prstGeom prst="rect">
            <a:avLst/>
          </a:prstGeom>
          <a:solidFill>
            <a:srgbClr val="CCDED4"/>
          </a:solidFill>
          <a:ln w="10160"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68512" y="1554480"/>
            <a:ext cx="3127248" cy="2423227"/>
          </a:xfrm>
          <a:prstGeom prst="rect">
            <a:avLst/>
          </a:prstGeom>
          <a:noFill/>
        </p:spPr>
        <p:txBody>
          <a:bodyPr wrap="square" lIns="73152" tIns="36576" rIns="36576" bIns="36576">
            <a:spAutoFit/>
          </a:bodyPr>
          <a:lstStyle/>
          <a:p>
            <a:pPr>
              <a:spcAft>
                <a:spcPts val="400"/>
              </a:spcAft>
            </a:pPr>
            <a:r>
              <a:rPr sz="1000" dirty="0">
                <a:solidFill>
                  <a:srgbClr val="000000"/>
                </a:solidFill>
                <a:latin typeface="Arial"/>
              </a:rPr>
              <a:t>• </a:t>
            </a:r>
            <a:r>
              <a:rPr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+ </a:t>
            </a:r>
            <a:r>
              <a:rPr sz="1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Vite</a:t>
            </a:r>
            <a:r>
              <a:rPr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command center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Three.js WebGL visualization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inference backend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Swin2SR / BSRGAN model layer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rasterio</a:t>
            </a:r>
            <a:r>
              <a:rPr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GeoTIFF</a:t>
            </a:r>
            <a:r>
              <a:rPr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pipeline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 Dropout uncertainty engine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PSNR / SSIM / SAM validation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Canny Edge + VARI overlays</a:t>
            </a:r>
          </a:p>
          <a:p>
            <a:pPr>
              <a:spcAft>
                <a:spcPts val="400"/>
              </a:spcAft>
            </a:pPr>
            <a:r>
              <a:rPr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NVIDIA RTX / CUDA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6382512"/>
            <a:ext cx="11777472" cy="182880"/>
          </a:xfrm>
          <a:prstGeom prst="rect">
            <a:avLst/>
          </a:prstGeom>
          <a:solidFill>
            <a:srgbClr val="CCDED4"/>
          </a:solidFill>
          <a:ln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" y="6382512"/>
            <a:ext cx="11631168" cy="182880"/>
          </a:xfrm>
          <a:prstGeom prst="rect">
            <a:avLst/>
          </a:prstGeom>
          <a:noFill/>
        </p:spPr>
        <p:txBody>
          <a:bodyPr wrap="none" lIns="36576" tIns="36576" rIns="36576" bIns="36576" anchor="ctr">
            <a:spAutoFit/>
          </a:bodyPr>
          <a:lstStyle/>
          <a:p>
            <a:pPr algn="ctr"/>
            <a:r>
              <a:rPr sz="850" b="0" i="0">
                <a:solidFill>
                  <a:srgbClr val="000000"/>
                </a:solidFill>
                <a:latin typeface="Arial"/>
              </a:rPr>
              <a:t>“Super-resolution for satellite imagery with measurable quality, geospatial consistency and explicit uncertainty.”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FCB0821-15C2-4357-92E7-CEF0264D8B1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22208" y="4056468"/>
            <a:ext cx="3468624" cy="22383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981</Words>
  <Application>Microsoft Office PowerPoint</Application>
  <PresentationFormat>Widescreen</PresentationFormat>
  <Paragraphs>150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Atharva Dhenge</cp:lastModifiedBy>
  <cp:revision>10</cp:revision>
  <dcterms:created xsi:type="dcterms:W3CDTF">2013-01-27T09:14:16Z</dcterms:created>
  <dcterms:modified xsi:type="dcterms:W3CDTF">2026-09-27T11:06:53Z</dcterms:modified>
  <cp:category/>
</cp:coreProperties>
</file>